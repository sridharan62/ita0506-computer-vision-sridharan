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8" r:id="rId9"/>
    <p:sldId id="258" r:id="rId10"/>
    <p:sldId id="277" r:id="rId11"/>
    <p:sldId id="268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44A15-11F3-4A42-8A00-33D256BFEC89}" v="17" dt="2026-07-14T02:32:34.5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i manojkumar" userId="dc6e17c779261a8e" providerId="LiveId" clId="{B20268CE-3CB4-49E1-B89A-431F07D958B8}"/>
    <pc:docChg chg="undo custSel addSld delSld modSld">
      <pc:chgData name="kandi manojkumar" userId="dc6e17c779261a8e" providerId="LiveId" clId="{B20268CE-3CB4-49E1-B89A-431F07D958B8}" dt="2026-07-14T02:38:56.256" v="103" actId="14100"/>
      <pc:docMkLst>
        <pc:docMk/>
      </pc:docMkLst>
      <pc:sldChg chg="addSp modSp mod">
        <pc:chgData name="kandi manojkumar" userId="dc6e17c779261a8e" providerId="LiveId" clId="{B20268CE-3CB4-49E1-B89A-431F07D958B8}" dt="2026-07-14T02:27:42.352" v="38" actId="1076"/>
        <pc:sldMkLst>
          <pc:docMk/>
          <pc:sldMk cId="0" sldId="256"/>
        </pc:sldMkLst>
        <pc:spChg chg="mod">
          <ac:chgData name="kandi manojkumar" userId="dc6e17c779261a8e" providerId="LiveId" clId="{B20268CE-3CB4-49E1-B89A-431F07D958B8}" dt="2026-07-14T02:27:42.352" v="3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ndi manojkumar" userId="dc6e17c779261a8e" providerId="LiveId" clId="{B20268CE-3CB4-49E1-B89A-431F07D958B8}" dt="2026-07-14T02:27:38.390" v="37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kandi manojkumar" userId="dc6e17c779261a8e" providerId="LiveId" clId="{B20268CE-3CB4-49E1-B89A-431F07D958B8}" dt="2026-07-14T02:23:56.883" v="13" actId="115"/>
          <ac:spMkLst>
            <pc:docMk/>
            <pc:sldMk cId="0" sldId="256"/>
            <ac:spMk id="10" creationId="{AF6F5C6F-8980-0442-15E6-F643B8EB5701}"/>
          </ac:spMkLst>
        </pc:spChg>
      </pc:sldChg>
      <pc:sldChg chg="modSp mod">
        <pc:chgData name="kandi manojkumar" userId="dc6e17c779261a8e" providerId="LiveId" clId="{B20268CE-3CB4-49E1-B89A-431F07D958B8}" dt="2026-07-14T02:26:18.995" v="26" actId="12"/>
        <pc:sldMkLst>
          <pc:docMk/>
          <pc:sldMk cId="0" sldId="257"/>
        </pc:sldMkLst>
        <pc:spChg chg="mod">
          <ac:chgData name="kandi manojkumar" userId="dc6e17c779261a8e" providerId="LiveId" clId="{B20268CE-3CB4-49E1-B89A-431F07D958B8}" dt="2026-07-14T02:26:18.995" v="26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ndi manojkumar" userId="dc6e17c779261a8e" providerId="LiveId" clId="{B20268CE-3CB4-49E1-B89A-431F07D958B8}" dt="2026-07-14T02:27:27.476" v="36" actId="2710"/>
        <pc:sldMkLst>
          <pc:docMk/>
          <pc:sldMk cId="0" sldId="258"/>
        </pc:sldMkLst>
        <pc:spChg chg="mod">
          <ac:chgData name="kandi manojkumar" userId="dc6e17c779261a8e" providerId="LiveId" clId="{B20268CE-3CB4-49E1-B89A-431F07D958B8}" dt="2026-07-14T02:26:59.889" v="31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kandi manojkumar" userId="dc6e17c779261a8e" providerId="LiveId" clId="{B20268CE-3CB4-49E1-B89A-431F07D958B8}" dt="2026-07-14T02:27:27.476" v="36" actId="2710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kandi manojkumar" userId="dc6e17c779261a8e" providerId="LiveId" clId="{B20268CE-3CB4-49E1-B89A-431F07D958B8}" dt="2026-07-14T02:38:56.256" v="103" actId="14100"/>
        <pc:sldMkLst>
          <pc:docMk/>
          <pc:sldMk cId="0" sldId="259"/>
        </pc:sldMkLst>
        <pc:spChg chg="mod">
          <ac:chgData name="kandi manojkumar" userId="dc6e17c779261a8e" providerId="LiveId" clId="{B20268CE-3CB4-49E1-B89A-431F07D958B8}" dt="2026-07-14T02:28:12.796" v="42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kandi manojkumar" userId="dc6e17c779261a8e" providerId="LiveId" clId="{B20268CE-3CB4-49E1-B89A-431F07D958B8}" dt="2026-07-14T02:28:56.247" v="53" actId="255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kandi manojkumar" userId="dc6e17c779261a8e" providerId="LiveId" clId="{B20268CE-3CB4-49E1-B89A-431F07D958B8}" dt="2026-07-14T02:38:56.256" v="103" actId="14100"/>
          <ac:picMkLst>
            <pc:docMk/>
            <pc:sldMk cId="0" sldId="259"/>
            <ac:picMk id="7" creationId="{F0B5C5C5-B418-BE24-1ECB-3CD801EE06C2}"/>
          </ac:picMkLst>
        </pc:picChg>
      </pc:sldChg>
      <pc:sldChg chg="del">
        <pc:chgData name="kandi manojkumar" userId="dc6e17c779261a8e" providerId="LiveId" clId="{B20268CE-3CB4-49E1-B89A-431F07D958B8}" dt="2026-07-14T02:29:19.384" v="54" actId="47"/>
        <pc:sldMkLst>
          <pc:docMk/>
          <pc:sldMk cId="0" sldId="260"/>
        </pc:sldMkLst>
      </pc:sldChg>
      <pc:sldChg chg="del">
        <pc:chgData name="kandi manojkumar" userId="dc6e17c779261a8e" providerId="LiveId" clId="{B20268CE-3CB4-49E1-B89A-431F07D958B8}" dt="2026-07-14T02:29:20.204" v="55" actId="47"/>
        <pc:sldMkLst>
          <pc:docMk/>
          <pc:sldMk cId="0" sldId="263"/>
        </pc:sldMkLst>
      </pc:sldChg>
      <pc:sldChg chg="del">
        <pc:chgData name="kandi manojkumar" userId="dc6e17c779261a8e" providerId="LiveId" clId="{B20268CE-3CB4-49E1-B89A-431F07D958B8}" dt="2026-07-14T02:29:20.877" v="56" actId="47"/>
        <pc:sldMkLst>
          <pc:docMk/>
          <pc:sldMk cId="0" sldId="264"/>
        </pc:sldMkLst>
      </pc:sldChg>
      <pc:sldChg chg="del">
        <pc:chgData name="kandi manojkumar" userId="dc6e17c779261a8e" providerId="LiveId" clId="{B20268CE-3CB4-49E1-B89A-431F07D958B8}" dt="2026-07-14T02:29:21.063" v="57" actId="47"/>
        <pc:sldMkLst>
          <pc:docMk/>
          <pc:sldMk cId="0" sldId="265"/>
        </pc:sldMkLst>
      </pc:sldChg>
      <pc:sldChg chg="modSp add del mod">
        <pc:chgData name="kandi manojkumar" userId="dc6e17c779261a8e" providerId="LiveId" clId="{B20268CE-3CB4-49E1-B89A-431F07D958B8}" dt="2026-07-14T02:30:00.973" v="66" actId="2710"/>
        <pc:sldMkLst>
          <pc:docMk/>
          <pc:sldMk cId="0" sldId="266"/>
        </pc:sldMkLst>
        <pc:spChg chg="mod">
          <ac:chgData name="kandi manojkumar" userId="dc6e17c779261a8e" providerId="LiveId" clId="{B20268CE-3CB4-49E1-B89A-431F07D958B8}" dt="2026-07-14T02:30:00.973" v="66" actId="2710"/>
          <ac:spMkLst>
            <pc:docMk/>
            <pc:sldMk cId="0" sldId="266"/>
            <ac:spMk id="3" creationId="{00000000-0000-0000-0000-000000000000}"/>
          </ac:spMkLst>
        </pc:spChg>
      </pc:sldChg>
      <pc:sldChg chg="addSp modSp add mod">
        <pc:chgData name="kandi manojkumar" userId="dc6e17c779261a8e" providerId="LiveId" clId="{B20268CE-3CB4-49E1-B89A-431F07D958B8}" dt="2026-07-14T02:34:14.020" v="98" actId="14100"/>
        <pc:sldMkLst>
          <pc:docMk/>
          <pc:sldMk cId="4106558557" sldId="267"/>
        </pc:sldMkLst>
        <pc:spChg chg="mod">
          <ac:chgData name="kandi manojkumar" userId="dc6e17c779261a8e" providerId="LiveId" clId="{B20268CE-3CB4-49E1-B89A-431F07D958B8}" dt="2026-07-14T02:32:24.724" v="82" actId="20577"/>
          <ac:spMkLst>
            <pc:docMk/>
            <pc:sldMk cId="4106558557" sldId="267"/>
            <ac:spMk id="2" creationId="{EA28AC20-0EAF-8682-E9C1-F6F3C2EF6F8F}"/>
          </ac:spMkLst>
        </pc:spChg>
        <pc:spChg chg="mod">
          <ac:chgData name="kandi manojkumar" userId="dc6e17c779261a8e" providerId="LiveId" clId="{B20268CE-3CB4-49E1-B89A-431F07D958B8}" dt="2026-07-14T02:34:00.056" v="95" actId="1076"/>
          <ac:spMkLst>
            <pc:docMk/>
            <pc:sldMk cId="4106558557" sldId="267"/>
            <ac:spMk id="3" creationId="{2FC671BD-C5A9-CEAD-1C4A-EC9DF2D18050}"/>
          </ac:spMkLst>
        </pc:spChg>
        <pc:picChg chg="add mod">
          <ac:chgData name="kandi manojkumar" userId="dc6e17c779261a8e" providerId="LiveId" clId="{B20268CE-3CB4-49E1-B89A-431F07D958B8}" dt="2026-07-14T02:34:14.020" v="98" actId="14100"/>
          <ac:picMkLst>
            <pc:docMk/>
            <pc:sldMk cId="4106558557" sldId="267"/>
            <ac:picMk id="6" creationId="{99A35405-8E6D-DACE-F326-F4495031DA87}"/>
          </ac:picMkLst>
        </pc:picChg>
      </pc:sldChg>
      <pc:sldChg chg="add del">
        <pc:chgData name="kandi manojkumar" userId="dc6e17c779261a8e" providerId="LiveId" clId="{B20268CE-3CB4-49E1-B89A-431F07D958B8}" dt="2026-07-14T02:31:44.003" v="69"/>
        <pc:sldMkLst>
          <pc:docMk/>
          <pc:sldMk cId="1445884648" sldId="268"/>
        </pc:sldMkLst>
      </pc:sldChg>
      <pc:sldChg chg="add del">
        <pc:chgData name="kandi manojkumar" userId="dc6e17c779261a8e" providerId="LiveId" clId="{B20268CE-3CB4-49E1-B89A-431F07D958B8}" dt="2026-07-14T02:31:52.632" v="71"/>
        <pc:sldMkLst>
          <pc:docMk/>
          <pc:sldMk cId="357504538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assroom.google.com/c/ODcwMzIwMjE4NDI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991922"/>
            <a:ext cx="10134600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image acquisition devices such as digital cameras, scanners, satellite sensors, and medical imaging systems by explaining their working principles and applications.</a:t>
            </a:r>
            <a:endParaRPr lang="en-US" sz="32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3400" y="5601929"/>
            <a:ext cx="4495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SRIDHARAN(192421335)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FEC1F-4FDC-896A-7E60-D3C9ADE9FEBB}"/>
              </a:ext>
            </a:extLst>
          </p:cNvPr>
          <p:cNvSpPr txBox="1"/>
          <p:nvPr/>
        </p:nvSpPr>
        <p:spPr>
          <a:xfrm>
            <a:off x="3867487" y="437097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1C718-4829-8F27-458D-4B977F970D2F}"/>
              </a:ext>
            </a:extLst>
          </p:cNvPr>
          <p:cNvSpPr txBox="1"/>
          <p:nvPr/>
        </p:nvSpPr>
        <p:spPr>
          <a:xfrm>
            <a:off x="3505200" y="121920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DB48D-063D-C0EF-80A4-1117F7225FB0}"/>
              </a:ext>
            </a:extLst>
          </p:cNvPr>
          <p:cNvSpPr txBox="1"/>
          <p:nvPr/>
        </p:nvSpPr>
        <p:spPr>
          <a:xfrm>
            <a:off x="3352800" y="1821289"/>
            <a:ext cx="5562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35" dirty="0">
                <a:latin typeface="Times New Roman"/>
                <a:cs typeface="Times New Roman"/>
              </a:rPr>
              <a:t>Technical </a:t>
            </a:r>
            <a:r>
              <a:rPr lang="en-IN" sz="2800" b="1" spc="-10" dirty="0">
                <a:latin typeface="Times New Roman"/>
                <a:cs typeface="Times New Roman"/>
              </a:rPr>
              <a:t>presentation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F5C6F-8980-0442-15E6-F643B8EB5701}"/>
              </a:ext>
            </a:extLst>
          </p:cNvPr>
          <p:cNvSpPr txBox="1"/>
          <p:nvPr/>
        </p:nvSpPr>
        <p:spPr>
          <a:xfrm>
            <a:off x="4265803" y="2306924"/>
            <a:ext cx="3658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strike="noStrike" spc="0" dirty="0"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ITA0506_SLOT D_COMPUTER VISION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FDE49D-2CA3-5456-6814-685014BF63A5}"/>
              </a:ext>
            </a:extLst>
          </p:cNvPr>
          <p:cNvSpPr txBox="1"/>
          <p:nvPr/>
        </p:nvSpPr>
        <p:spPr>
          <a:xfrm>
            <a:off x="377017" y="5492923"/>
            <a:ext cx="63270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R.C. JENI GRACIA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752600"/>
            <a:ext cx="10668000" cy="417421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Camera: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CCD sensor to capture images. Used in photography and video recording.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light sensors to convert documents into digital images. Used for document scanning.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Sensor: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Earth images from satellites. Used for weather, mapping, and agriculture.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System: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X-ray, CT, MRI, or Ultrasound to image the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body. Used for medical diagnosis.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1A3F-AE6F-2D2D-1DD0-8805F84F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AB9B61-C8B1-AEC4-461F-55BE2910F9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Image Acquisition Devices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6FC78AA-40C6-CE70-7EF8-10102F84D49B}"/>
              </a:ext>
            </a:extLst>
          </p:cNvPr>
          <p:cNvSpPr txBox="1"/>
          <p:nvPr/>
        </p:nvSpPr>
        <p:spPr>
          <a:xfrm>
            <a:off x="1676400" y="2133600"/>
            <a:ext cx="10665460" cy="398955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Devices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📷 Digital Cameras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Scanners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🛰️ Satellite Sensors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🏥 Medical Imaging Systems 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images for different applications.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F44F748-B89A-8496-F319-F4AF180EE2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8519532-9258-1D64-83C7-BF2D16A631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25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963F-4AB1-5E7F-5CB1-E5A9EC25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E26305-9C03-2B49-3707-9E782FD76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Cameras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A71A26-E239-62DD-1628-F2C590B500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85A5023-420C-14CC-8DA2-C71CF5D7DA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26798-17B9-5E14-D029-2269969DDEA8}"/>
              </a:ext>
            </a:extLst>
          </p:cNvPr>
          <p:cNvSpPr txBox="1"/>
          <p:nvPr/>
        </p:nvSpPr>
        <p:spPr>
          <a:xfrm>
            <a:off x="1600200" y="1476254"/>
            <a:ext cx="990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focuses light onto an image sensor (CCD/CMOS).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converts light into electrical signals.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converts signals into a digital image.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</a:p>
        </p:txBody>
      </p:sp>
      <p:pic>
        <p:nvPicPr>
          <p:cNvPr id="8" name="Picture 7" descr="https://images.openai.com/static-rsc-4/GDaj4FVw05GdAei_h1r6AgLEDJOQEz0s4avZuCXNToN0HHSg0mrjTKKnEJSZOEGYvF2sPRD6NXU2m9qxcoCqIksNTFHnTIwNr2yHrkz4Q4lT12sMOEc-p0Y6ovcZ_6kUt53-Mm9_60ytDr3orveFjzmcELv_GpRuU82__uwLAOUvs0nSGo57j3XKyGldXCO-?purpose=fullsize">
            <a:extLst>
              <a:ext uri="{FF2B5EF4-FFF2-40B4-BE49-F238E27FC236}">
                <a16:creationId xmlns:a16="http://schemas.microsoft.com/office/drawing/2014/main" id="{4DCED771-1569-0F37-20BC-CB8AAD817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514" y="3367548"/>
            <a:ext cx="3153152" cy="269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B032-D019-E1FC-E121-7C103A2B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8601A6-4A37-0E84-C535-6CE585869D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D188864-AF03-1FE2-1212-5569EB3036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B6C8939-3B6A-1065-7C8D-6646140EF6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694A7-D10F-3247-CB2A-4D4D970DF422}"/>
              </a:ext>
            </a:extLst>
          </p:cNvPr>
          <p:cNvSpPr txBox="1"/>
          <p:nvPr/>
        </p:nvSpPr>
        <p:spPr>
          <a:xfrm>
            <a:off x="2036803" y="1295400"/>
            <a:ext cx="9829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 source scans the document.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light is captured by CCD/CIS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is converted into digital format.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scanning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(Optical Character Recognition)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digitization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automation</a:t>
            </a:r>
          </a:p>
        </p:txBody>
      </p:sp>
      <p:pic>
        <p:nvPicPr>
          <p:cNvPr id="3" name="Picture 2" descr="https://images.openai.com/static-rsc-4/z40UFC51ufwxHFhxsz4mLWdN0TizIGjCz3R5R2bouWWWJdE80_aom9UejtI9Y0KZRNlpMKNQcxFxJYpcysf1FOBU6aiTMw4wkmU1VpZkbpLW7yUrVLFSQ2vRmxzKDGjQcibImEeg9t2HY_GLyHW5AzmG3ux8kazR6AQpFsMgGYNPZEVIFU_FSkBRWKjUmDc5?purpose=fullsize">
            <a:extLst>
              <a:ext uri="{FF2B5EF4-FFF2-40B4-BE49-F238E27FC236}">
                <a16:creationId xmlns:a16="http://schemas.microsoft.com/office/drawing/2014/main" id="{492C2603-70C3-F1CE-4F75-5E147141A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184" y="2874815"/>
            <a:ext cx="3756216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5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5224-BA50-7287-CECA-9A485D4D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EE4144-8483-13AC-4FC9-FE8F5974F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Sensors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AB564A-A879-EDBB-BC7F-B478BCFC58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28C03742-4B62-B8E2-F9E3-BCBE7185AE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73D254-B0D3-7F12-E984-3FD412BCB3F4}"/>
              </a:ext>
            </a:extLst>
          </p:cNvPr>
          <p:cNvSpPr txBox="1"/>
          <p:nvPr/>
        </p:nvSpPr>
        <p:spPr>
          <a:xfrm>
            <a:off x="1825434" y="1219200"/>
            <a:ext cx="9448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capture reflected sunlight or emitted thermal energy.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to Earth stations.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processed for analysis.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</a:p>
        </p:txBody>
      </p:sp>
      <p:pic>
        <p:nvPicPr>
          <p:cNvPr id="3" name="Picture 2" descr="https://images.openai.com/static-rsc-4/WVHsJv9x-nA2m3tV3waeP2o5JhG27WZe8ZwKErMEys8zkxxe8SOouAVPAHEn817lZWCSE4IdLeG965DvVz-g-fQNnD6j98327ZOF_ZhFltQu7Sc0xecr6-gOYLBQYmusyS_mNSzXOx2eUYGym9bvNSNbeKD_ycI9DzaXXXysCRQeZcB_QrRHU8tidKFrHrZY?purpose=fullsize">
            <a:extLst>
              <a:ext uri="{FF2B5EF4-FFF2-40B4-BE49-F238E27FC236}">
                <a16:creationId xmlns:a16="http://schemas.microsoft.com/office/drawing/2014/main" id="{2A734FB8-4309-2208-B624-7DD4B3CCF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2751903"/>
            <a:ext cx="4114800" cy="34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45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1FFA-3838-6868-C1BB-A458FFE8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B0A88C-2943-4969-55D8-01A21CEC9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Systems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62853CC-51ED-C988-9BD4-6A1314E216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09C23C1-FB5A-1FFB-A39A-D6F69743EC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33A207-1739-B55D-086C-3363BBA0E616}"/>
              </a:ext>
            </a:extLst>
          </p:cNvPr>
          <p:cNvSpPr txBox="1"/>
          <p:nvPr/>
        </p:nvSpPr>
        <p:spPr>
          <a:xfrm>
            <a:off x="1676400" y="129540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technologies capture images of the human body.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→ Uses X-rays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Scan → Multiple X-rays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→ Magnetic field &amp; radio waves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Ultrasound → Sound waves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diagnosis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Surgery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Bone fracture detection</a:t>
            </a:r>
          </a:p>
        </p:txBody>
      </p:sp>
      <p:pic>
        <p:nvPicPr>
          <p:cNvPr id="3" name="Picture 2" descr="https://images.openai.com/static-rsc-4/dJPYsy9v3LwACkbyxVz2Vqsp4RK9fw5uM-Fgv7E1vdFuasfC6UEnGafVBp1xPJr4FB0qMn8yqEnS5HfrH_91UPEBvtb0qyAgixjIw6LoPBDVUe2tZytNp6YwEZsT79UIL1Fc9oSTxXABHLok0FsntyHlreitSyAIPGpvN84gfCsiyVsUQBgnnNS4l1zBd8Fo?purpose=fullsize">
            <a:extLst>
              <a:ext uri="{FF2B5EF4-FFF2-40B4-BE49-F238E27FC236}">
                <a16:creationId xmlns:a16="http://schemas.microsoft.com/office/drawing/2014/main" id="{66D4E27C-86AF-810E-2244-FC1BE928F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728" y="3429000"/>
            <a:ext cx="4091638" cy="272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5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AD61-E115-6359-0E84-FC5260FB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8AE870-5F6C-EBBB-9AEE-145827D35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461899"/>
            <a:ext cx="3886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0CA946-79E3-9208-A70F-86DF458FD710}"/>
              </a:ext>
            </a:extLst>
          </p:cNvPr>
          <p:cNvSpPr txBox="1"/>
          <p:nvPr/>
        </p:nvSpPr>
        <p:spPr>
          <a:xfrm>
            <a:off x="909143" y="1752600"/>
            <a:ext cx="10665460" cy="54245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054F5B7-5C06-9E79-6119-F951AB8EA8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F48B92B-5DF4-6215-1583-87EC7B58EF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3CB8DB-B301-4BC7-F877-41004A71E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71270"/>
              </p:ext>
            </p:extLst>
          </p:nvPr>
        </p:nvGraphicFramePr>
        <p:xfrm>
          <a:off x="970964" y="2525405"/>
          <a:ext cx="10541817" cy="1817290"/>
        </p:xfrm>
        <a:graphic>
          <a:graphicData uri="http://schemas.openxmlformats.org/drawingml/2006/table">
            <a:tbl>
              <a:tblPr/>
              <a:tblGrid>
                <a:gridCol w="3513939">
                  <a:extLst>
                    <a:ext uri="{9D8B030D-6E8A-4147-A177-3AD203B41FA5}">
                      <a16:colId xmlns:a16="http://schemas.microsoft.com/office/drawing/2014/main" val="3325810713"/>
                    </a:ext>
                  </a:extLst>
                </a:gridCol>
                <a:gridCol w="3513939">
                  <a:extLst>
                    <a:ext uri="{9D8B030D-6E8A-4147-A177-3AD203B41FA5}">
                      <a16:colId xmlns:a16="http://schemas.microsoft.com/office/drawing/2014/main" val="423234387"/>
                    </a:ext>
                  </a:extLst>
                </a:gridCol>
                <a:gridCol w="3513939">
                  <a:extLst>
                    <a:ext uri="{9D8B030D-6E8A-4147-A177-3AD203B41FA5}">
                      <a16:colId xmlns:a16="http://schemas.microsoft.com/office/drawing/2014/main" val="4222483608"/>
                    </a:ext>
                  </a:extLst>
                </a:gridCol>
              </a:tblGrid>
              <a:tr h="35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125308"/>
                  </a:ext>
                </a:extLst>
              </a:tr>
              <a:tr h="35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40939"/>
                  </a:ext>
                </a:extLst>
              </a:tr>
              <a:tr h="35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491720"/>
                  </a:ext>
                </a:extLst>
              </a:tr>
              <a:tr h="35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905359"/>
                  </a:ext>
                </a:extLst>
              </a:tr>
              <a:tr h="35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89138" marR="89138" marT="44569" marB="445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842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82584A-3474-0D7F-3024-4707F3720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96184"/>
              </p:ext>
            </p:extLst>
          </p:nvPr>
        </p:nvGraphicFramePr>
        <p:xfrm>
          <a:off x="1487972" y="2033659"/>
          <a:ext cx="9561027" cy="3833743"/>
        </p:xfrm>
        <a:graphic>
          <a:graphicData uri="http://schemas.openxmlformats.org/drawingml/2006/table">
            <a:tbl>
              <a:tblPr/>
              <a:tblGrid>
                <a:gridCol w="3187009">
                  <a:extLst>
                    <a:ext uri="{9D8B030D-6E8A-4147-A177-3AD203B41FA5}">
                      <a16:colId xmlns:a16="http://schemas.microsoft.com/office/drawing/2014/main" val="4086776336"/>
                    </a:ext>
                  </a:extLst>
                </a:gridCol>
                <a:gridCol w="3187009">
                  <a:extLst>
                    <a:ext uri="{9D8B030D-6E8A-4147-A177-3AD203B41FA5}">
                      <a16:colId xmlns:a16="http://schemas.microsoft.com/office/drawing/2014/main" val="3977321728"/>
                    </a:ext>
                  </a:extLst>
                </a:gridCol>
                <a:gridCol w="3187009">
                  <a:extLst>
                    <a:ext uri="{9D8B030D-6E8A-4147-A177-3AD203B41FA5}">
                      <a16:colId xmlns:a16="http://schemas.microsoft.com/office/drawing/2014/main" val="4016586948"/>
                    </a:ext>
                  </a:extLst>
                </a:gridCol>
              </a:tblGrid>
              <a:tr h="479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Device</a:t>
                      </a:r>
                      <a:endParaRPr lang="en-IN" sz="110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Technology Used</a:t>
                      </a:r>
                      <a:endParaRPr lang="en-IN" sz="110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Main Application</a:t>
                      </a:r>
                      <a:endParaRPr lang="en-IN" sz="110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071911"/>
                  </a:ext>
                </a:extLst>
              </a:tr>
              <a:tr h="838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📷 </a:t>
                      </a:r>
                      <a:r>
                        <a:rPr lang="en-IN" sz="1100" b="1"/>
                        <a:t>Digital Camera</a:t>
                      </a:r>
                      <a:endParaRPr lang="en-IN" sz="110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CCD  Sensor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Photography, Mobile Cameras, Surveillance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33409"/>
                  </a:ext>
                </a:extLst>
              </a:tr>
              <a:tr h="838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📄 </a:t>
                      </a:r>
                      <a:r>
                        <a:rPr lang="en-IN" sz="1100" b="1" dirty="0"/>
                        <a:t>Scanner</a:t>
                      </a:r>
                      <a:endParaRPr lang="en-IN" sz="1100" dirty="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Contact Image Sensor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Document Scanning, OCR, Book Digitization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276519"/>
                  </a:ext>
                </a:extLst>
              </a:tr>
              <a:tr h="838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🛰️ </a:t>
                      </a:r>
                      <a:r>
                        <a:rPr lang="en-IN" sz="1100" b="1"/>
                        <a:t>Satellite Sensor</a:t>
                      </a:r>
                      <a:endParaRPr lang="en-IN" sz="110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Remote Sensing Sensors (Optical, Infrared, Thermal)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Weather Forecasting, Mapping, Agriculture, Disaster Monitoring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264979"/>
                  </a:ext>
                </a:extLst>
              </a:tr>
              <a:tr h="838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🏥 </a:t>
                      </a:r>
                      <a:r>
                        <a:rPr lang="en-IN" sz="1100" b="1"/>
                        <a:t>Medical Imaging System</a:t>
                      </a:r>
                      <a:endParaRPr lang="en-IN" sz="1100"/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X-ray, CT Scan, MRI, Ultrasound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Disease Diagnosis, Healthcare, Medical Treatment</a:t>
                      </a:r>
                    </a:p>
                  </a:txBody>
                  <a:tcPr marL="55711" marR="55711" marT="27856" marB="278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70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9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461899"/>
            <a:ext cx="3886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9143" y="1752600"/>
            <a:ext cx="10665460" cy="398955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devices are expensive.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 may be affected by noise and lighting.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image files require more storage.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devices need regular calibration and maintenance.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can reduce image accuracy. 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0E0C-B404-385E-AB85-4356A771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D5DA1C-7BCD-C66A-1782-21B9E791F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548582"/>
            <a:ext cx="71628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A8B2D7F-7802-5DE4-4453-7909A50679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2E91AB0-170A-F53C-4453-22A198359A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 descr="Microchip Expands PolarFire® FPGA Smart Embedded Video Ecosystem with New SDI IP Cores and Quad CoaXPress™ Bridge Kit | Microchip Technology">
            <a:extLst>
              <a:ext uri="{FF2B5EF4-FFF2-40B4-BE49-F238E27FC236}">
                <a16:creationId xmlns:a16="http://schemas.microsoft.com/office/drawing/2014/main" id="{979D0CBD-310A-F2D2-68B9-E00122811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932" y="1752600"/>
            <a:ext cx="3411794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AD07C7-7DC9-3E63-AE06-AB81347FA659}"/>
              </a:ext>
            </a:extLst>
          </p:cNvPr>
          <p:cNvSpPr txBox="1"/>
          <p:nvPr/>
        </p:nvSpPr>
        <p:spPr>
          <a:xfrm>
            <a:off x="629686" y="1905000"/>
            <a:ext cx="72951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is the first step in image processing.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devices use different technologies.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device has unique applications. Choosing the right device depends on the purpose.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plays a vital role in modern technology.</a:t>
            </a:r>
          </a:p>
        </p:txBody>
      </p:sp>
    </p:spTree>
    <p:extLst>
      <p:ext uri="{BB962C8B-B14F-4D97-AF65-F5344CB8AC3E}">
        <p14:creationId xmlns:p14="http://schemas.microsoft.com/office/powerpoint/2010/main" val="1011496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01F4-20B3-061D-F221-E40B2A27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7EC597-A6CE-3456-F5E3-BAB5BA3C2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9705" y="636779"/>
            <a:ext cx="99895" cy="1252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D7D77C2-7A20-B488-A296-C5738FCE6A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9016A61-8AF2-70FE-9776-5211DE355C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EDD09-F345-8C7B-D6F2-257745BDD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067" y="860620"/>
            <a:ext cx="9511866" cy="513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8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481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Google Sans</vt:lpstr>
      <vt:lpstr>Times New Roman</vt:lpstr>
      <vt:lpstr>Wingdings</vt:lpstr>
      <vt:lpstr>Office Theme</vt:lpstr>
      <vt:lpstr>compare different image acquisition devices such as digital cameras, scanners, satellite sensors, and medical imaging systems by explaining their working principles and applications.</vt:lpstr>
      <vt:lpstr>Introduction</vt:lpstr>
      <vt:lpstr>Types of Image Acquisition Devices</vt:lpstr>
      <vt:lpstr>Digital Cameras</vt:lpstr>
      <vt:lpstr>Scanners</vt:lpstr>
      <vt:lpstr>Satellite Sensors</vt:lpstr>
      <vt:lpstr>Medical Imaging Systems</vt:lpstr>
      <vt:lpstr>Comparison Table</vt:lpstr>
      <vt:lpstr> LIMITATIONS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sri dharan</cp:lastModifiedBy>
  <cp:revision>8</cp:revision>
  <dcterms:created xsi:type="dcterms:W3CDTF">2025-03-19T13:35:36Z</dcterms:created>
  <dcterms:modified xsi:type="dcterms:W3CDTF">2026-07-14T05:13:25Z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